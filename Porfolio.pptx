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notesMasterIdLst>
    <p:notesMasterId r:id="rId14"/>
  </p:notesMasterIdLst>
  <p:sldIdLst>
    <p:sldId id="256" r:id="rId2"/>
    <p:sldId id="257" r:id="rId3"/>
    <p:sldId id="258" r:id="rId4"/>
    <p:sldId id="259" r:id="rId5"/>
    <p:sldId id="260" r:id="rId6"/>
    <p:sldId id="261" r:id="rId7"/>
    <p:sldId id="262" r:id="rId8"/>
    <p:sldId id="265" r:id="rId9"/>
    <p:sldId id="266" r:id="rId10"/>
    <p:sldId id="263" r:id="rId11"/>
    <p:sldId id="264"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arloladive@gmail.com" userId="d45ddd9e066f7b95" providerId="LiveId" clId="{51981353-00FD-419D-A04F-2FAF4F7BCCD4}"/>
    <pc:docChg chg="undo custSel addSld modSld">
      <pc:chgData name="pearloladive@gmail.com" userId="d45ddd9e066f7b95" providerId="LiveId" clId="{51981353-00FD-419D-A04F-2FAF4F7BCCD4}" dt="2026-07-17T12:58:22.921" v="1838" actId="20577"/>
      <pc:docMkLst>
        <pc:docMk/>
      </pc:docMkLst>
      <pc:sldChg chg="addSp delSp modSp add mod">
        <pc:chgData name="pearloladive@gmail.com" userId="d45ddd9e066f7b95" providerId="LiveId" clId="{51981353-00FD-419D-A04F-2FAF4F7BCCD4}" dt="2026-07-17T12:42:34.366" v="526" actId="20577"/>
        <pc:sldMkLst>
          <pc:docMk/>
          <pc:sldMk cId="2987083158" sldId="265"/>
        </pc:sldMkLst>
        <pc:spChg chg="del">
          <ac:chgData name="pearloladive@gmail.com" userId="d45ddd9e066f7b95" providerId="LiveId" clId="{51981353-00FD-419D-A04F-2FAF4F7BCCD4}" dt="2026-07-17T12:39:17.412" v="1" actId="478"/>
          <ac:spMkLst>
            <pc:docMk/>
            <pc:sldMk cId="2987083158" sldId="265"/>
            <ac:spMk id="2" creationId="{2F65D719-1155-6F81-5FA8-D8F299079844}"/>
          </ac:spMkLst>
        </pc:spChg>
        <pc:spChg chg="mod">
          <ac:chgData name="pearloladive@gmail.com" userId="d45ddd9e066f7b95" providerId="LiveId" clId="{51981353-00FD-419D-A04F-2FAF4F7BCCD4}" dt="2026-07-17T12:42:34.366" v="526" actId="20577"/>
          <ac:spMkLst>
            <pc:docMk/>
            <pc:sldMk cId="2987083158" sldId="265"/>
            <ac:spMk id="3" creationId="{6BF8B587-6EFA-DA3A-4561-E3EA4004CC6C}"/>
          </ac:spMkLst>
        </pc:spChg>
        <pc:spChg chg="add del mod">
          <ac:chgData name="pearloladive@gmail.com" userId="d45ddd9e066f7b95" providerId="LiveId" clId="{51981353-00FD-419D-A04F-2FAF4F7BCCD4}" dt="2026-07-17T12:39:22.209" v="2" actId="478"/>
          <ac:spMkLst>
            <pc:docMk/>
            <pc:sldMk cId="2987083158" sldId="265"/>
            <ac:spMk id="5" creationId="{B0D9720F-1CF4-D0A6-A55C-382D17E809E0}"/>
          </ac:spMkLst>
        </pc:spChg>
      </pc:sldChg>
      <pc:sldChg chg="addSp delSp modSp add mod">
        <pc:chgData name="pearloladive@gmail.com" userId="d45ddd9e066f7b95" providerId="LiveId" clId="{51981353-00FD-419D-A04F-2FAF4F7BCCD4}" dt="2026-07-17T12:58:22.921" v="1838" actId="20577"/>
        <pc:sldMkLst>
          <pc:docMk/>
          <pc:sldMk cId="3385997782" sldId="266"/>
        </pc:sldMkLst>
        <pc:spChg chg="add del mod">
          <ac:chgData name="pearloladive@gmail.com" userId="d45ddd9e066f7b95" providerId="LiveId" clId="{51981353-00FD-419D-A04F-2FAF4F7BCCD4}" dt="2026-07-17T12:58:22.921" v="1838" actId="20577"/>
          <ac:spMkLst>
            <pc:docMk/>
            <pc:sldMk cId="3385997782" sldId="266"/>
            <ac:spMk id="3" creationId="{9A8CCC4E-4A70-88B2-8BAE-EAA6597B1639}"/>
          </ac:spMkLst>
        </pc:spChg>
        <pc:picChg chg="add del mod ord">
          <ac:chgData name="pearloladive@gmail.com" userId="d45ddd9e066f7b95" providerId="LiveId" clId="{51981353-00FD-419D-A04F-2FAF4F7BCCD4}" dt="2026-07-17T12:48:14.547" v="536" actId="22"/>
          <ac:picMkLst>
            <pc:docMk/>
            <pc:sldMk cId="3385997782" sldId="266"/>
            <ac:picMk id="4" creationId="{E8B16F76-82D9-5455-95DE-DBF260FD401C}"/>
          </ac:picMkLst>
        </pc:picChg>
        <pc:picChg chg="add mod">
          <ac:chgData name="pearloladive@gmail.com" userId="d45ddd9e066f7b95" providerId="LiveId" clId="{51981353-00FD-419D-A04F-2FAF4F7BCCD4}" dt="2026-07-17T12:56:25.238" v="1462" actId="14100"/>
          <ac:picMkLst>
            <pc:docMk/>
            <pc:sldMk cId="3385997782" sldId="266"/>
            <ac:picMk id="6" creationId="{EDB82888-D09E-9555-1BF7-3C92455319A4}"/>
          </ac:picMkLst>
        </pc:picChg>
        <pc:picChg chg="add mod">
          <ac:chgData name="pearloladive@gmail.com" userId="d45ddd9e066f7b95" providerId="LiveId" clId="{51981353-00FD-419D-A04F-2FAF4F7BCCD4}" dt="2026-07-17T12:56:51.295" v="1468" actId="14100"/>
          <ac:picMkLst>
            <pc:docMk/>
            <pc:sldMk cId="3385997782" sldId="266"/>
            <ac:picMk id="8" creationId="{8D67A287-CECF-F4CA-37A7-3547B280618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275454-FCEF-4F5E-9230-F75C2AEC8B6A}" type="datetimeFigureOut">
              <a:rPr lang="en-PH" smtClean="0"/>
              <a:t>7/19/2026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E73757-BA3F-451B-9B57-42D9845CE735}" type="slidenum">
              <a:rPr lang="en-PH" smtClean="0"/>
              <a:t>‹#›</a:t>
            </a:fld>
            <a:endParaRPr lang="en-PH"/>
          </a:p>
        </p:txBody>
      </p:sp>
    </p:spTree>
    <p:extLst>
      <p:ext uri="{BB962C8B-B14F-4D97-AF65-F5344CB8AC3E}">
        <p14:creationId xmlns:p14="http://schemas.microsoft.com/office/powerpoint/2010/main" val="1371418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1CE73757-BA3F-451B-9B57-42D9845CE735}" type="slidenum">
              <a:rPr lang="en-PH" smtClean="0"/>
              <a:t>1</a:t>
            </a:fld>
            <a:endParaRPr lang="en-PH"/>
          </a:p>
        </p:txBody>
      </p:sp>
    </p:spTree>
    <p:extLst>
      <p:ext uri="{BB962C8B-B14F-4D97-AF65-F5344CB8AC3E}">
        <p14:creationId xmlns:p14="http://schemas.microsoft.com/office/powerpoint/2010/main" val="2078984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1CE73757-BA3F-451B-9B57-42D9845CE735}" type="slidenum">
              <a:rPr lang="en-PH" smtClean="0"/>
              <a:t>4</a:t>
            </a:fld>
            <a:endParaRPr lang="en-PH"/>
          </a:p>
        </p:txBody>
      </p:sp>
    </p:spTree>
    <p:extLst>
      <p:ext uri="{BB962C8B-B14F-4D97-AF65-F5344CB8AC3E}">
        <p14:creationId xmlns:p14="http://schemas.microsoft.com/office/powerpoint/2010/main" val="201410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2B3E6-1F56-F1E8-F969-C948378313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D30DD3-094A-E73C-0FB5-887493A1BB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B99A8A-84C6-92E7-9C06-196847FF864A}"/>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1D25151D-F5FD-8ED8-C2E5-28358B7FD5C0}"/>
              </a:ext>
            </a:extLst>
          </p:cNvPr>
          <p:cNvSpPr>
            <a:spLocks noGrp="1"/>
          </p:cNvSpPr>
          <p:nvPr>
            <p:ph type="sldNum" sz="quarter" idx="5"/>
          </p:nvPr>
        </p:nvSpPr>
        <p:spPr/>
        <p:txBody>
          <a:bodyPr/>
          <a:lstStyle/>
          <a:p>
            <a:fld id="{1CE73757-BA3F-451B-9B57-42D9845CE735}" type="slidenum">
              <a:rPr lang="en-PH" smtClean="0"/>
              <a:t>5</a:t>
            </a:fld>
            <a:endParaRPr lang="en-PH"/>
          </a:p>
        </p:txBody>
      </p:sp>
    </p:spTree>
    <p:extLst>
      <p:ext uri="{BB962C8B-B14F-4D97-AF65-F5344CB8AC3E}">
        <p14:creationId xmlns:p14="http://schemas.microsoft.com/office/powerpoint/2010/main" val="34617824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F1307-B459-DF69-5E60-66334DAC39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7F9755-C571-10A5-EE2A-31988B4A3B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B9916D-B52F-8A8E-E85E-B622F0080742}"/>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FD396BD9-9871-FF0D-A7D5-45A17477426D}"/>
              </a:ext>
            </a:extLst>
          </p:cNvPr>
          <p:cNvSpPr>
            <a:spLocks noGrp="1"/>
          </p:cNvSpPr>
          <p:nvPr>
            <p:ph type="sldNum" sz="quarter" idx="5"/>
          </p:nvPr>
        </p:nvSpPr>
        <p:spPr/>
        <p:txBody>
          <a:bodyPr/>
          <a:lstStyle/>
          <a:p>
            <a:fld id="{1CE73757-BA3F-451B-9B57-42D9845CE735}" type="slidenum">
              <a:rPr lang="en-PH" smtClean="0"/>
              <a:t>6</a:t>
            </a:fld>
            <a:endParaRPr lang="en-PH"/>
          </a:p>
        </p:txBody>
      </p:sp>
    </p:spTree>
    <p:extLst>
      <p:ext uri="{BB962C8B-B14F-4D97-AF65-F5344CB8AC3E}">
        <p14:creationId xmlns:p14="http://schemas.microsoft.com/office/powerpoint/2010/main" val="34673974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7/19/2026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76052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7/19/2026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29935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7/19/2026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1881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7/19/2026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25749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7/19/2026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415916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7/19/2026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07982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7/19/2026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922817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7/19/2026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7189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7/19/2026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56279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7/19/2026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10414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7/19/2026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3986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7/19/2026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24079923"/>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78" r:id="rId6"/>
    <p:sldLayoutId id="2147483689" r:id="rId7"/>
    <p:sldLayoutId id="2147483688" r:id="rId8"/>
    <p:sldLayoutId id="2147483687" r:id="rId9"/>
    <p:sldLayoutId id="2147483686" r:id="rId10"/>
    <p:sldLayoutId id="2147483679"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8BEC44CD-E290-4D60-A056-5BA05B182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48A682D2-0EE5-BB06-6B69-E45328753623}"/>
              </a:ext>
            </a:extLst>
          </p:cNvPr>
          <p:cNvPicPr>
            <a:picLocks noChangeAspect="1"/>
          </p:cNvPicPr>
          <p:nvPr/>
        </p:nvPicPr>
        <p:blipFill>
          <a:blip r:embed="rId3">
            <a:alphaModFix amt="40000"/>
          </a:blip>
          <a:srcRect t="7069" b="8661"/>
          <a:stretch>
            <a:fillRect/>
          </a:stretch>
        </p:blipFill>
        <p:spPr>
          <a:xfrm>
            <a:off x="-2" y="-4"/>
            <a:ext cx="12192001" cy="6858001"/>
          </a:xfrm>
          <a:prstGeom prst="rect">
            <a:avLst/>
          </a:prstGeom>
        </p:spPr>
      </p:pic>
      <p:sp>
        <p:nvSpPr>
          <p:cNvPr id="2" name="Title 1">
            <a:extLst>
              <a:ext uri="{FF2B5EF4-FFF2-40B4-BE49-F238E27FC236}">
                <a16:creationId xmlns:a16="http://schemas.microsoft.com/office/drawing/2014/main" id="{8E7D73B3-B61A-38C9-7922-FD493CDA7A80}"/>
              </a:ext>
            </a:extLst>
          </p:cNvPr>
          <p:cNvSpPr>
            <a:spLocks noGrp="1"/>
          </p:cNvSpPr>
          <p:nvPr>
            <p:ph type="ctrTitle"/>
          </p:nvPr>
        </p:nvSpPr>
        <p:spPr>
          <a:xfrm>
            <a:off x="517870" y="978408"/>
            <a:ext cx="5021182" cy="2450592"/>
          </a:xfrm>
        </p:spPr>
        <p:txBody>
          <a:bodyPr anchor="t">
            <a:normAutofit/>
          </a:bodyPr>
          <a:lstStyle/>
          <a:p>
            <a:pPr>
              <a:lnSpc>
                <a:spcPct val="90000"/>
              </a:lnSpc>
            </a:pPr>
            <a:r>
              <a:rPr lang="en-PH" sz="4700">
                <a:solidFill>
                  <a:srgbClr val="FFFFFF"/>
                </a:solidFill>
              </a:rPr>
              <a:t>I’M JM PAUL, YOUR BUSINESS PARTNER</a:t>
            </a:r>
          </a:p>
        </p:txBody>
      </p:sp>
      <p:sp>
        <p:nvSpPr>
          <p:cNvPr id="3" name="Subtitle 2">
            <a:extLst>
              <a:ext uri="{FF2B5EF4-FFF2-40B4-BE49-F238E27FC236}">
                <a16:creationId xmlns:a16="http://schemas.microsoft.com/office/drawing/2014/main" id="{F03CA876-834D-69FE-87D7-00EE4D4DBDA7}"/>
              </a:ext>
            </a:extLst>
          </p:cNvPr>
          <p:cNvSpPr>
            <a:spLocks noGrp="1"/>
          </p:cNvSpPr>
          <p:nvPr>
            <p:ph type="subTitle" idx="1"/>
          </p:nvPr>
        </p:nvSpPr>
        <p:spPr>
          <a:xfrm>
            <a:off x="6652366" y="4017818"/>
            <a:ext cx="5040785" cy="1828799"/>
          </a:xfrm>
        </p:spPr>
        <p:txBody>
          <a:bodyPr anchor="b">
            <a:normAutofit/>
          </a:bodyPr>
          <a:lstStyle/>
          <a:p>
            <a:r>
              <a:rPr lang="en-PH" sz="2400">
                <a:solidFill>
                  <a:srgbClr val="FFFFFF"/>
                </a:solidFill>
              </a:rPr>
              <a:t>LET’S GO AND TALK ABOUT BUSINESS</a:t>
            </a:r>
          </a:p>
        </p:txBody>
      </p:sp>
      <p:sp>
        <p:nvSpPr>
          <p:cNvPr id="18" name="Rectangle 17">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387565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25412-85B9-562A-752F-1546E436AE5D}"/>
              </a:ext>
            </a:extLst>
          </p:cNvPr>
          <p:cNvSpPr>
            <a:spLocks noGrp="1"/>
          </p:cNvSpPr>
          <p:nvPr>
            <p:ph type="title"/>
          </p:nvPr>
        </p:nvSpPr>
        <p:spPr/>
        <p:txBody>
          <a:bodyPr>
            <a:noAutofit/>
          </a:bodyPr>
          <a:lstStyle/>
          <a:p>
            <a:r>
              <a:rPr lang="en-PH" sz="3600" dirty="0"/>
              <a:t>I’M WORKING IN BUSINESS PROCESSING OUTSOURCING SERVICE FOR ALL OVER 4 YEARS</a:t>
            </a:r>
          </a:p>
        </p:txBody>
      </p:sp>
      <p:sp>
        <p:nvSpPr>
          <p:cNvPr id="3" name="Content Placeholder 2">
            <a:extLst>
              <a:ext uri="{FF2B5EF4-FFF2-40B4-BE49-F238E27FC236}">
                <a16:creationId xmlns:a16="http://schemas.microsoft.com/office/drawing/2014/main" id="{E5C28C60-F7A9-564D-4A8E-2E82B383008A}"/>
              </a:ext>
            </a:extLst>
          </p:cNvPr>
          <p:cNvSpPr>
            <a:spLocks noGrp="1"/>
          </p:cNvSpPr>
          <p:nvPr>
            <p:ph idx="1"/>
          </p:nvPr>
        </p:nvSpPr>
        <p:spPr>
          <a:xfrm>
            <a:off x="929641" y="2441448"/>
            <a:ext cx="5166360" cy="3767328"/>
          </a:xfrm>
        </p:spPr>
        <p:txBody>
          <a:bodyPr>
            <a:normAutofit fontScale="85000" lnSpcReduction="20000"/>
          </a:bodyPr>
          <a:lstStyle/>
          <a:p>
            <a:pPr marL="0" indent="0">
              <a:buNone/>
            </a:pPr>
            <a:r>
              <a:rPr lang="en-PH" dirty="0"/>
              <a:t>WHAT SERVICE I OFFERED? </a:t>
            </a:r>
          </a:p>
          <a:p>
            <a:r>
              <a:rPr lang="en-PH" dirty="0"/>
              <a:t>Customer Service Support</a:t>
            </a:r>
          </a:p>
          <a:p>
            <a:r>
              <a:rPr lang="en-PH" dirty="0"/>
              <a:t>Email Support</a:t>
            </a:r>
          </a:p>
          <a:p>
            <a:r>
              <a:rPr lang="en-PH" dirty="0"/>
              <a:t>Live Chat Support</a:t>
            </a:r>
          </a:p>
          <a:p>
            <a:r>
              <a:rPr lang="en-PH" dirty="0"/>
              <a:t>Phone Support</a:t>
            </a:r>
          </a:p>
          <a:p>
            <a:r>
              <a:rPr lang="en-PH" dirty="0"/>
              <a:t>Virtual Assistance</a:t>
            </a:r>
          </a:p>
          <a:p>
            <a:r>
              <a:rPr lang="en-PH" dirty="0"/>
              <a:t>Administrative Support</a:t>
            </a:r>
          </a:p>
          <a:p>
            <a:r>
              <a:rPr lang="en-PH" dirty="0"/>
              <a:t>Social Media Management</a:t>
            </a:r>
          </a:p>
          <a:p>
            <a:r>
              <a:rPr lang="en-PH" dirty="0"/>
              <a:t>Sales Support</a:t>
            </a:r>
          </a:p>
          <a:p>
            <a:r>
              <a:rPr lang="en-PH" dirty="0"/>
              <a:t>Customer Success</a:t>
            </a:r>
          </a:p>
          <a:p>
            <a:r>
              <a:rPr lang="en-PH" dirty="0"/>
              <a:t>CRM Management</a:t>
            </a:r>
          </a:p>
          <a:p>
            <a:endParaRPr lang="en-PH" dirty="0"/>
          </a:p>
        </p:txBody>
      </p:sp>
      <p:sp>
        <p:nvSpPr>
          <p:cNvPr id="4" name="Content Placeholder 2">
            <a:extLst>
              <a:ext uri="{FF2B5EF4-FFF2-40B4-BE49-F238E27FC236}">
                <a16:creationId xmlns:a16="http://schemas.microsoft.com/office/drawing/2014/main" id="{0D8E5F4E-37CF-63D2-3DC5-563A67F49096}"/>
              </a:ext>
            </a:extLst>
          </p:cNvPr>
          <p:cNvSpPr txBox="1">
            <a:spLocks/>
          </p:cNvSpPr>
          <p:nvPr/>
        </p:nvSpPr>
        <p:spPr>
          <a:xfrm>
            <a:off x="5687568" y="2578608"/>
            <a:ext cx="5166360" cy="3767328"/>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PH" dirty="0"/>
          </a:p>
        </p:txBody>
      </p:sp>
      <p:sp>
        <p:nvSpPr>
          <p:cNvPr id="5" name="Content Placeholder 2">
            <a:extLst>
              <a:ext uri="{FF2B5EF4-FFF2-40B4-BE49-F238E27FC236}">
                <a16:creationId xmlns:a16="http://schemas.microsoft.com/office/drawing/2014/main" id="{EA9FD145-8126-FEB4-FF47-688B93A3390C}"/>
              </a:ext>
            </a:extLst>
          </p:cNvPr>
          <p:cNvSpPr txBox="1">
            <a:spLocks/>
          </p:cNvSpPr>
          <p:nvPr/>
        </p:nvSpPr>
        <p:spPr>
          <a:xfrm>
            <a:off x="6096000" y="2441448"/>
            <a:ext cx="5166360" cy="3767328"/>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PH" dirty="0"/>
              <a:t>WHAT ACCOUNTS THAT I’VE HANDLED?</a:t>
            </a:r>
          </a:p>
          <a:p>
            <a:pPr>
              <a:buFontTx/>
              <a:buChar char="-"/>
            </a:pPr>
            <a:r>
              <a:rPr lang="en-PH" dirty="0"/>
              <a:t>Telecommunication Account</a:t>
            </a:r>
          </a:p>
          <a:p>
            <a:pPr>
              <a:buFontTx/>
              <a:buChar char="-"/>
            </a:pPr>
            <a:r>
              <a:rPr lang="en-PH" dirty="0"/>
              <a:t>Travel Account (TripAdvisor)</a:t>
            </a:r>
          </a:p>
          <a:p>
            <a:pPr>
              <a:buFontTx/>
              <a:buChar char="-"/>
            </a:pPr>
            <a:r>
              <a:rPr lang="en-PH" dirty="0"/>
              <a:t>IT Solutions Account</a:t>
            </a:r>
          </a:p>
          <a:p>
            <a:pPr>
              <a:buFontTx/>
              <a:buChar char="-"/>
            </a:pPr>
            <a:r>
              <a:rPr lang="en-PH" dirty="0"/>
              <a:t>Social Medias (Engagements Specialist)</a:t>
            </a:r>
          </a:p>
          <a:p>
            <a:pPr>
              <a:buFontTx/>
              <a:buChar char="-"/>
            </a:pPr>
            <a:r>
              <a:rPr lang="en-PH" dirty="0"/>
              <a:t>Staycation Account</a:t>
            </a:r>
          </a:p>
          <a:p>
            <a:pPr>
              <a:buFontTx/>
              <a:buChar char="-"/>
            </a:pPr>
            <a:endParaRPr lang="en-PH" dirty="0"/>
          </a:p>
        </p:txBody>
      </p:sp>
    </p:spTree>
    <p:extLst>
      <p:ext uri="{BB962C8B-B14F-4D97-AF65-F5344CB8AC3E}">
        <p14:creationId xmlns:p14="http://schemas.microsoft.com/office/powerpoint/2010/main" val="26831958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grpId="0" nodeType="click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barn(inVertical)">
                                      <p:cBhvr>
                                        <p:cTn id="5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B8BA887-B87B-4E7C-A5DD-54C28A163DDD}"/>
              </a:ext>
            </a:extLst>
          </p:cNvPr>
          <p:cNvSpPr>
            <a:spLocks noGrp="1"/>
          </p:cNvSpPr>
          <p:nvPr>
            <p:ph type="title"/>
          </p:nvPr>
        </p:nvSpPr>
        <p:spPr>
          <a:xfrm>
            <a:off x="521208" y="978408"/>
            <a:ext cx="11155680" cy="1115568"/>
          </a:xfrm>
        </p:spPr>
        <p:txBody>
          <a:bodyPr>
            <a:normAutofit/>
          </a:bodyPr>
          <a:lstStyle/>
          <a:p>
            <a:pPr>
              <a:lnSpc>
                <a:spcPct val="90000"/>
              </a:lnSpc>
            </a:pPr>
            <a:r>
              <a:rPr lang="en-PH" sz="3700" dirty="0"/>
              <a:t>WHAT COMPANY I’VE WORKED FOR? WHY AM I HAVE THIS EXPERTIES?</a:t>
            </a:r>
          </a:p>
        </p:txBody>
      </p:sp>
      <p:sp>
        <p:nvSpPr>
          <p:cNvPr id="12" name="Freeform: Shape 11">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8297DC33-DAA7-55AC-4E52-1E6DBD929D49}"/>
              </a:ext>
            </a:extLst>
          </p:cNvPr>
          <p:cNvSpPr>
            <a:spLocks noGrp="1"/>
          </p:cNvSpPr>
          <p:nvPr>
            <p:ph idx="1"/>
          </p:nvPr>
        </p:nvSpPr>
        <p:spPr>
          <a:xfrm>
            <a:off x="521208" y="2304288"/>
            <a:ext cx="6821424" cy="4050792"/>
          </a:xfrm>
        </p:spPr>
        <p:txBody>
          <a:bodyPr>
            <a:normAutofit/>
          </a:bodyPr>
          <a:lstStyle/>
          <a:p>
            <a:pPr marL="0" indent="0">
              <a:lnSpc>
                <a:spcPct val="100000"/>
              </a:lnSpc>
              <a:buNone/>
            </a:pPr>
            <a:r>
              <a:rPr lang="en-PH" sz="1300" b="1" dirty="0"/>
              <a:t>IGNITED VIRTUAL OUTSOURCING SERVICES COPORATION</a:t>
            </a:r>
          </a:p>
          <a:p>
            <a:pPr>
              <a:lnSpc>
                <a:spcPct val="100000"/>
              </a:lnSpc>
              <a:buNone/>
            </a:pPr>
            <a:r>
              <a:rPr lang="en-US" sz="1300" dirty="0"/>
              <a:t>At Ignited Virtual Outsourcing Services Corporation, I started as a Customer Care Relations Expert and Outbound Cold Caller, where I was responsible for handling customer inquiries, maintaining positive client relationships, and generating leads through outbound calling. I consistently met productivity and quality targets while developing strong communication, sales, and problem-solving skills.</a:t>
            </a:r>
          </a:p>
          <a:p>
            <a:pPr>
              <a:lnSpc>
                <a:spcPct val="100000"/>
              </a:lnSpc>
              <a:buNone/>
            </a:pPr>
            <a:r>
              <a:rPr lang="en-US" sz="1300" dirty="0"/>
              <a:t>Because of my performance and ability to support the team, I was promoted to Assistant Team Leader after one year. In this role, I helped manage daily team operations by monitoring attendance, tracking performance, assisting with scheduling, and preparing reports. I also conducted coaching sessions, provided feedback to improve agent performance, handled customer escalations, and served as the first point of support for team members whenever they encountered challenges.</a:t>
            </a:r>
          </a:p>
          <a:p>
            <a:pPr marL="0" indent="0">
              <a:lnSpc>
                <a:spcPct val="100000"/>
              </a:lnSpc>
              <a:buNone/>
            </a:pPr>
            <a:r>
              <a:rPr lang="en-US" sz="1300" dirty="0"/>
              <a:t>This experience strengthened my leadership, coaching, organizational, and operations management skills. It also taught me how to balance team performance with customer satisfaction while working closely with supervisors and management to achieve operational goals.</a:t>
            </a:r>
          </a:p>
          <a:p>
            <a:pPr marL="0" indent="0">
              <a:lnSpc>
                <a:spcPct val="100000"/>
              </a:lnSpc>
              <a:buNone/>
            </a:pPr>
            <a:endParaRPr lang="en-PH" sz="1300" dirty="0"/>
          </a:p>
        </p:txBody>
      </p:sp>
      <p:pic>
        <p:nvPicPr>
          <p:cNvPr id="5" name="Picture 4" descr="A black circle with white text and blue headphones">
            <a:extLst>
              <a:ext uri="{FF2B5EF4-FFF2-40B4-BE49-F238E27FC236}">
                <a16:creationId xmlns:a16="http://schemas.microsoft.com/office/drawing/2014/main" id="{02FDAC38-0C25-3862-EAD9-C47C0D4E8A59}"/>
              </a:ext>
            </a:extLst>
          </p:cNvPr>
          <p:cNvPicPr>
            <a:picLocks noChangeAspect="1"/>
          </p:cNvPicPr>
          <p:nvPr/>
        </p:nvPicPr>
        <p:blipFill>
          <a:blip r:embed="rId2">
            <a:extLst>
              <a:ext uri="{28A0092B-C50C-407E-A947-70E740481C1C}">
                <a14:useLocalDpi xmlns:a14="http://schemas.microsoft.com/office/drawing/2010/main" val="0"/>
              </a:ext>
            </a:extLst>
          </a:blip>
          <a:srcRect l="2655" r="1" b="1"/>
          <a:stretch>
            <a:fillRect/>
          </a:stretch>
        </p:blipFill>
        <p:spPr>
          <a:xfrm>
            <a:off x="7863839" y="2299390"/>
            <a:ext cx="3807243" cy="4048568"/>
          </a:xfrm>
          <a:prstGeom prst="rect">
            <a:avLst/>
          </a:prstGeom>
        </p:spPr>
      </p:pic>
    </p:spTree>
    <p:extLst>
      <p:ext uri="{BB962C8B-B14F-4D97-AF65-F5344CB8AC3E}">
        <p14:creationId xmlns:p14="http://schemas.microsoft.com/office/powerpoint/2010/main" val="1012587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EF218F-10DA-EA23-94AF-7E93D8372B37}"/>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F1FF554-8777-9BB8-4C42-ACCEF1BAE283}"/>
              </a:ext>
            </a:extLst>
          </p:cNvPr>
          <p:cNvSpPr>
            <a:spLocks noGrp="1"/>
          </p:cNvSpPr>
          <p:nvPr>
            <p:ph type="title"/>
          </p:nvPr>
        </p:nvSpPr>
        <p:spPr>
          <a:xfrm>
            <a:off x="521208" y="978408"/>
            <a:ext cx="11155680" cy="1115568"/>
          </a:xfrm>
        </p:spPr>
        <p:txBody>
          <a:bodyPr>
            <a:normAutofit/>
          </a:bodyPr>
          <a:lstStyle/>
          <a:p>
            <a:pPr>
              <a:lnSpc>
                <a:spcPct val="90000"/>
              </a:lnSpc>
            </a:pPr>
            <a:r>
              <a:rPr lang="en-PH" sz="3700" dirty="0"/>
              <a:t>WHAT COMPANY I’VE WORKED FOR? WHY AM I HAVE THIS EXPERTIES?</a:t>
            </a:r>
          </a:p>
        </p:txBody>
      </p:sp>
      <p:sp>
        <p:nvSpPr>
          <p:cNvPr id="15" name="Freeform: Shape 14">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4A69DFD8-6AFA-39F0-8582-AD7A1BBBD386}"/>
              </a:ext>
            </a:extLst>
          </p:cNvPr>
          <p:cNvSpPr>
            <a:spLocks noGrp="1"/>
          </p:cNvSpPr>
          <p:nvPr>
            <p:ph idx="1"/>
          </p:nvPr>
        </p:nvSpPr>
        <p:spPr>
          <a:xfrm>
            <a:off x="521208" y="2304288"/>
            <a:ext cx="6821424" cy="4050792"/>
          </a:xfrm>
        </p:spPr>
        <p:txBody>
          <a:bodyPr>
            <a:normAutofit/>
          </a:bodyPr>
          <a:lstStyle/>
          <a:p>
            <a:pPr marL="0" indent="0">
              <a:lnSpc>
                <a:spcPct val="100000"/>
              </a:lnSpc>
              <a:buNone/>
            </a:pPr>
            <a:r>
              <a:rPr lang="en-PH" sz="1300" b="1" dirty="0"/>
              <a:t>SUTHERLAND GLOBAL SERVICES</a:t>
            </a:r>
          </a:p>
          <a:p>
            <a:pPr>
              <a:lnSpc>
                <a:spcPct val="100000"/>
              </a:lnSpc>
              <a:buNone/>
            </a:pPr>
            <a:r>
              <a:rPr lang="en-US" sz="1300" dirty="0"/>
              <a:t>At Sutherland Global Services, I was initially hired as a Customer Care Specialist and Sales Expert, where I assisted customers with their concerns, recommended appropriate products and services, and consistently met both sales and customer service performance targets. My role required strong communication, active listening, and the ability to identify customer needs while delivering a positive experience.</a:t>
            </a:r>
          </a:p>
          <a:p>
            <a:pPr>
              <a:lnSpc>
                <a:spcPct val="100000"/>
              </a:lnSpc>
              <a:buNone/>
            </a:pPr>
            <a:r>
              <a:rPr lang="en-US" sz="1300" dirty="0"/>
              <a:t>After consistently performing well, I was promoted to Team Expert (Subject Matter Expert) after four months. In this position, I became the primary support resource for the team by assisting agents with complex customer concerns, answering process-related questions, and providing real-time floor support. I also worked closely with supervisors by helping monitor team performance, reinforcing company policies and procedures, and coaching team members to improve their productivity and service quality.</a:t>
            </a:r>
          </a:p>
          <a:p>
            <a:pPr marL="0" indent="0">
              <a:lnSpc>
                <a:spcPct val="100000"/>
              </a:lnSpc>
              <a:buNone/>
            </a:pPr>
            <a:r>
              <a:rPr lang="en-US" sz="1300" dirty="0"/>
              <a:t>This experience enhanced my leadership, coaching, and problem-solving abilities while giving me valuable exposure to team operations and performance management. It also strengthened my ability to support both employees and management in achieving operational and customer service goals.</a:t>
            </a:r>
          </a:p>
          <a:p>
            <a:pPr marL="0" indent="0">
              <a:lnSpc>
                <a:spcPct val="100000"/>
              </a:lnSpc>
              <a:buNone/>
            </a:pPr>
            <a:endParaRPr lang="en-PH" sz="1300" b="1" dirty="0"/>
          </a:p>
        </p:txBody>
      </p:sp>
      <p:pic>
        <p:nvPicPr>
          <p:cNvPr id="5" name="Picture 4" descr="A logo with lines in the shape of a circle&#10;&#10;AI-generated content may be incorrect.">
            <a:extLst>
              <a:ext uri="{FF2B5EF4-FFF2-40B4-BE49-F238E27FC236}">
                <a16:creationId xmlns:a16="http://schemas.microsoft.com/office/drawing/2014/main" id="{CFF380FC-8A1E-945D-9025-7CA9DDC0AAE3}"/>
              </a:ext>
            </a:extLst>
          </p:cNvPr>
          <p:cNvPicPr>
            <a:picLocks noChangeAspect="1"/>
          </p:cNvPicPr>
          <p:nvPr/>
        </p:nvPicPr>
        <p:blipFill>
          <a:blip r:embed="rId3">
            <a:extLst>
              <a:ext uri="{28A0092B-C50C-407E-A947-70E740481C1C}">
                <a14:useLocalDpi xmlns:a14="http://schemas.microsoft.com/office/drawing/2010/main" val="0"/>
              </a:ext>
            </a:extLst>
          </a:blip>
          <a:srcRect l="2173" r="478" b="-4"/>
          <a:stretch>
            <a:fillRect/>
          </a:stretch>
        </p:blipFill>
        <p:spPr>
          <a:xfrm>
            <a:off x="7730019" y="2299390"/>
            <a:ext cx="3941064" cy="4048568"/>
          </a:xfrm>
          <a:prstGeom prst="rect">
            <a:avLst/>
          </a:prstGeom>
        </p:spPr>
      </p:pic>
    </p:spTree>
    <p:extLst>
      <p:ext uri="{BB962C8B-B14F-4D97-AF65-F5344CB8AC3E}">
        <p14:creationId xmlns:p14="http://schemas.microsoft.com/office/powerpoint/2010/main" val="4207498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2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2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1000"/>
                                        <p:tgtEl>
                                          <p:spTgt spid="5"/>
                                        </p:tgtEl>
                                      </p:cBhvr>
                                    </p:animEffect>
                                    <p:anim calcmode="lin" valueType="num">
                                      <p:cBhvr>
                                        <p:cTn id="33" dur="1000" fill="hold"/>
                                        <p:tgtEl>
                                          <p:spTgt spid="5"/>
                                        </p:tgtEl>
                                        <p:attrNameLst>
                                          <p:attrName>ppt_x</p:attrName>
                                        </p:attrNameLst>
                                      </p:cBhvr>
                                      <p:tavLst>
                                        <p:tav tm="0">
                                          <p:val>
                                            <p:strVal val="#ppt_x"/>
                                          </p:val>
                                        </p:tav>
                                        <p:tav tm="100000">
                                          <p:val>
                                            <p:strVal val="#ppt_x"/>
                                          </p:val>
                                        </p:tav>
                                      </p:tavLst>
                                    </p:anim>
                                    <p:anim calcmode="lin" valueType="num">
                                      <p:cBhvr>
                                        <p:cTn id="3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5F7C74-E3A3-538B-FEE7-A803D2018E11}"/>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3C958C9-5339-7ABA-BF2F-957F83BEE9A8}"/>
              </a:ext>
            </a:extLst>
          </p:cNvPr>
          <p:cNvSpPr>
            <a:spLocks noGrp="1"/>
          </p:cNvSpPr>
          <p:nvPr>
            <p:ph type="title"/>
          </p:nvPr>
        </p:nvSpPr>
        <p:spPr>
          <a:xfrm>
            <a:off x="521208" y="978408"/>
            <a:ext cx="11155680" cy="1115568"/>
          </a:xfrm>
        </p:spPr>
        <p:txBody>
          <a:bodyPr>
            <a:normAutofit/>
          </a:bodyPr>
          <a:lstStyle/>
          <a:p>
            <a:pPr>
              <a:lnSpc>
                <a:spcPct val="90000"/>
              </a:lnSpc>
            </a:pPr>
            <a:r>
              <a:rPr lang="en-PH" sz="3700" dirty="0"/>
              <a:t>WHAT COMPANY I’VE WORKED FOR? WHY AM I HAVE THIS EXPERTIES?</a:t>
            </a:r>
          </a:p>
        </p:txBody>
      </p:sp>
      <p:sp>
        <p:nvSpPr>
          <p:cNvPr id="22" name="Freeform: Shape 21">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80112525-6001-F83A-B940-E6AE3711BCFC}"/>
              </a:ext>
            </a:extLst>
          </p:cNvPr>
          <p:cNvSpPr>
            <a:spLocks noGrp="1"/>
          </p:cNvSpPr>
          <p:nvPr>
            <p:ph idx="1"/>
          </p:nvPr>
        </p:nvSpPr>
        <p:spPr>
          <a:xfrm>
            <a:off x="521208" y="2304288"/>
            <a:ext cx="6821424" cy="4050792"/>
          </a:xfrm>
        </p:spPr>
        <p:txBody>
          <a:bodyPr>
            <a:normAutofit/>
          </a:bodyPr>
          <a:lstStyle/>
          <a:p>
            <a:pPr marL="0" indent="0">
              <a:lnSpc>
                <a:spcPct val="100000"/>
              </a:lnSpc>
              <a:buNone/>
            </a:pPr>
            <a:r>
              <a:rPr lang="en-PH" sz="1500" b="1" dirty="0"/>
              <a:t>QUANTRICS ENTERPRISES INCORPORATED </a:t>
            </a:r>
          </a:p>
          <a:p>
            <a:pPr>
              <a:lnSpc>
                <a:spcPct val="100000"/>
              </a:lnSpc>
              <a:buNone/>
            </a:pPr>
            <a:r>
              <a:rPr lang="en-US" sz="1500" dirty="0"/>
              <a:t>At </a:t>
            </a:r>
            <a:r>
              <a:rPr lang="en-US" sz="1500" b="1" dirty="0" err="1"/>
              <a:t>Quantrics</a:t>
            </a:r>
            <a:r>
              <a:rPr lang="en-US" sz="1500" b="1" dirty="0"/>
              <a:t> Enterprises Incorporated</a:t>
            </a:r>
            <a:r>
              <a:rPr lang="en-US" sz="1500" dirty="0"/>
              <a:t>, I worked as a </a:t>
            </a:r>
            <a:r>
              <a:rPr lang="en-US" sz="1500" b="1" dirty="0"/>
              <a:t>Serve to Sell Representative (Billing Trained)</a:t>
            </a:r>
            <a:r>
              <a:rPr lang="en-US" sz="1500" dirty="0"/>
              <a:t> and was promoted to </a:t>
            </a:r>
            <a:r>
              <a:rPr lang="en-US" sz="1500" b="1" dirty="0"/>
              <a:t>Subject Matter Expert (SME)</a:t>
            </a:r>
            <a:r>
              <a:rPr lang="en-US" sz="1500" dirty="0"/>
              <a:t> after three months because of my strong performance and product knowledge. </a:t>
            </a:r>
            <a:r>
              <a:rPr lang="en-US" sz="1500" dirty="0" err="1"/>
              <a:t>Quantrics</a:t>
            </a:r>
            <a:r>
              <a:rPr lang="en-US" sz="1500" dirty="0"/>
              <a:t> is a business process outsourcing (BPO) company that provides customer service, sales, billing, and technical support for telecommunications clients.</a:t>
            </a:r>
          </a:p>
          <a:p>
            <a:pPr marL="0" indent="0">
              <a:lnSpc>
                <a:spcPct val="100000"/>
              </a:lnSpc>
              <a:buNone/>
            </a:pPr>
            <a:r>
              <a:rPr lang="en-US" sz="1500" dirty="0"/>
              <a:t>In this role, I handled customer billing inquiries, resolved account concerns, identified sales opportunities, and ensured a high level of customer satisfaction. As an SME, I supported agents with process-related questions, coached team members, assisted supervisors with performance monitoring, handled escalations, and conducted knowledge-sharing sessions. These responsibilities strengthened my expertise in customer service, billing support, team coaching, operations support, problem-solving, and leadership.</a:t>
            </a:r>
          </a:p>
          <a:p>
            <a:pPr marL="0" indent="0">
              <a:lnSpc>
                <a:spcPct val="100000"/>
              </a:lnSpc>
              <a:buNone/>
            </a:pPr>
            <a:endParaRPr lang="en-PH" sz="1500" dirty="0"/>
          </a:p>
        </p:txBody>
      </p:sp>
      <p:pic>
        <p:nvPicPr>
          <p:cNvPr id="6" name="Picture 5" descr="A purple and white logo&#10;&#10;AI-generated content may be incorrect.">
            <a:extLst>
              <a:ext uri="{FF2B5EF4-FFF2-40B4-BE49-F238E27FC236}">
                <a16:creationId xmlns:a16="http://schemas.microsoft.com/office/drawing/2014/main" id="{E501BC85-C8C4-C745-5036-0473296AAAAD}"/>
              </a:ext>
            </a:extLst>
          </p:cNvPr>
          <p:cNvPicPr>
            <a:picLocks noChangeAspect="1"/>
          </p:cNvPicPr>
          <p:nvPr/>
        </p:nvPicPr>
        <p:blipFill>
          <a:blip r:embed="rId3">
            <a:extLst>
              <a:ext uri="{28A0092B-C50C-407E-A947-70E740481C1C}">
                <a14:useLocalDpi xmlns:a14="http://schemas.microsoft.com/office/drawing/2010/main" val="0"/>
              </a:ext>
            </a:extLst>
          </a:blip>
          <a:srcRect r="2654" b="-2"/>
          <a:stretch>
            <a:fillRect/>
          </a:stretch>
        </p:blipFill>
        <p:spPr>
          <a:xfrm>
            <a:off x="7730019" y="2299390"/>
            <a:ext cx="3941064" cy="4048568"/>
          </a:xfrm>
          <a:prstGeom prst="rect">
            <a:avLst/>
          </a:prstGeom>
        </p:spPr>
      </p:pic>
    </p:spTree>
    <p:extLst>
      <p:ext uri="{BB962C8B-B14F-4D97-AF65-F5344CB8AC3E}">
        <p14:creationId xmlns:p14="http://schemas.microsoft.com/office/powerpoint/2010/main" val="727699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arn(inVertic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arn(inVertic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0EEB47-1CF9-D3F6-2361-CC1A8F8AE63F}"/>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A2D65B6-C124-D000-DBA3-734243516FD1}"/>
              </a:ext>
            </a:extLst>
          </p:cNvPr>
          <p:cNvSpPr>
            <a:spLocks noGrp="1"/>
          </p:cNvSpPr>
          <p:nvPr>
            <p:ph type="title"/>
          </p:nvPr>
        </p:nvSpPr>
        <p:spPr>
          <a:xfrm>
            <a:off x="521208" y="978408"/>
            <a:ext cx="11155680" cy="1115568"/>
          </a:xfrm>
        </p:spPr>
        <p:txBody>
          <a:bodyPr>
            <a:normAutofit/>
          </a:bodyPr>
          <a:lstStyle/>
          <a:p>
            <a:pPr>
              <a:lnSpc>
                <a:spcPct val="90000"/>
              </a:lnSpc>
            </a:pPr>
            <a:r>
              <a:rPr lang="en-PH" sz="3700" dirty="0"/>
              <a:t>WHAT COMPANY I’VE WORKED FOR? WHY AM I HAVE THIS EXPERTIES?</a:t>
            </a:r>
          </a:p>
        </p:txBody>
      </p:sp>
      <p:sp>
        <p:nvSpPr>
          <p:cNvPr id="29" name="Freeform: Shape 28">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7A45EA89-09BC-3C59-9178-683A632C3628}"/>
              </a:ext>
            </a:extLst>
          </p:cNvPr>
          <p:cNvSpPr>
            <a:spLocks noGrp="1"/>
          </p:cNvSpPr>
          <p:nvPr>
            <p:ph idx="1"/>
          </p:nvPr>
        </p:nvSpPr>
        <p:spPr>
          <a:xfrm>
            <a:off x="521208" y="2304288"/>
            <a:ext cx="6821424" cy="4050792"/>
          </a:xfrm>
        </p:spPr>
        <p:txBody>
          <a:bodyPr>
            <a:normAutofit/>
          </a:bodyPr>
          <a:lstStyle/>
          <a:p>
            <a:pPr>
              <a:lnSpc>
                <a:spcPct val="100000"/>
              </a:lnSpc>
              <a:buNone/>
            </a:pPr>
            <a:r>
              <a:rPr lang="en-US" sz="1500" b="1" dirty="0"/>
              <a:t>INTOUCHCX</a:t>
            </a:r>
          </a:p>
          <a:p>
            <a:pPr>
              <a:lnSpc>
                <a:spcPct val="100000"/>
              </a:lnSpc>
              <a:buNone/>
            </a:pPr>
            <a:r>
              <a:rPr lang="en-US" sz="1500" dirty="0"/>
              <a:t>At </a:t>
            </a:r>
            <a:r>
              <a:rPr lang="en-US" sz="1500" b="1" dirty="0" err="1"/>
              <a:t>IntouchCX</a:t>
            </a:r>
            <a:r>
              <a:rPr lang="en-US" sz="1500" b="1" dirty="0"/>
              <a:t> Manila</a:t>
            </a:r>
            <a:r>
              <a:rPr lang="en-US" sz="1500" dirty="0"/>
              <a:t>, I currently work as a </a:t>
            </a:r>
            <a:r>
              <a:rPr lang="en-US" sz="1500" b="1" dirty="0"/>
              <a:t>Customer Service Representative handling the Airbnb Home Listings Account</a:t>
            </a:r>
            <a:r>
              <a:rPr lang="en-US" sz="1500" dirty="0"/>
              <a:t>. </a:t>
            </a:r>
            <a:r>
              <a:rPr lang="en-US" sz="1500" dirty="0" err="1"/>
              <a:t>IntouchCX</a:t>
            </a:r>
            <a:r>
              <a:rPr lang="en-US" sz="1500" dirty="0"/>
              <a:t> is a global business process outsourcing company that provides customer experience solutions and support services for various international brands.</a:t>
            </a:r>
          </a:p>
          <a:p>
            <a:pPr>
              <a:lnSpc>
                <a:spcPct val="100000"/>
              </a:lnSpc>
              <a:buNone/>
            </a:pPr>
            <a:r>
              <a:rPr lang="en-US" sz="1500" dirty="0"/>
              <a:t>In my current role, I assist Airbnb hosts and guests by addressing concerns related to home listings, account issues, reservations, policies, and platform-related inquiries. I help ensure a smooth customer experience by providing accurate information, resolving issues efficiently, and following established processes and quality standards.</a:t>
            </a:r>
          </a:p>
          <a:p>
            <a:pPr marL="0" indent="0">
              <a:lnSpc>
                <a:spcPct val="100000"/>
              </a:lnSpc>
              <a:buNone/>
            </a:pPr>
            <a:r>
              <a:rPr lang="en-US" sz="1500" dirty="0"/>
              <a:t>This role has strengthened my expertise in customer relationship management, problem-solving, platform support, policy adherence, communication, and handling complex customer concerns. It also allows me to develop further operational skills by collaborating with teams, managing multiple cases, and maintaining service excellence in a fast-paced environment.</a:t>
            </a:r>
          </a:p>
          <a:p>
            <a:pPr marL="0" indent="0">
              <a:lnSpc>
                <a:spcPct val="100000"/>
              </a:lnSpc>
              <a:buNone/>
            </a:pPr>
            <a:endParaRPr lang="en-PH" sz="1500" dirty="0"/>
          </a:p>
        </p:txBody>
      </p:sp>
      <p:pic>
        <p:nvPicPr>
          <p:cNvPr id="5" name="Picture 4" descr="A green and white logo&#10;&#10;AI-generated content may be incorrect.">
            <a:extLst>
              <a:ext uri="{FF2B5EF4-FFF2-40B4-BE49-F238E27FC236}">
                <a16:creationId xmlns:a16="http://schemas.microsoft.com/office/drawing/2014/main" id="{DB5DB937-9A2E-9999-8F4D-7CE9D854D477}"/>
              </a:ext>
            </a:extLst>
          </p:cNvPr>
          <p:cNvPicPr>
            <a:picLocks noChangeAspect="1"/>
          </p:cNvPicPr>
          <p:nvPr/>
        </p:nvPicPr>
        <p:blipFill>
          <a:blip r:embed="rId3">
            <a:extLst>
              <a:ext uri="{28A0092B-C50C-407E-A947-70E740481C1C}">
                <a14:useLocalDpi xmlns:a14="http://schemas.microsoft.com/office/drawing/2010/main" val="0"/>
              </a:ext>
            </a:extLst>
          </a:blip>
          <a:srcRect l="22561" r="22195" b="-1"/>
          <a:stretch>
            <a:fillRect/>
          </a:stretch>
        </p:blipFill>
        <p:spPr>
          <a:xfrm>
            <a:off x="7730019" y="2299390"/>
            <a:ext cx="3941064" cy="4048568"/>
          </a:xfrm>
          <a:prstGeom prst="rect">
            <a:avLst/>
          </a:prstGeom>
        </p:spPr>
      </p:pic>
    </p:spTree>
    <p:extLst>
      <p:ext uri="{BB962C8B-B14F-4D97-AF65-F5344CB8AC3E}">
        <p14:creationId xmlns:p14="http://schemas.microsoft.com/office/powerpoint/2010/main" val="264730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arn(inVertic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arn(inVertic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arn(inVertic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additive="base">
                                        <p:cTn id="32" dur="500" fill="hold"/>
                                        <p:tgtEl>
                                          <p:spTgt spid="5"/>
                                        </p:tgtEl>
                                        <p:attrNameLst>
                                          <p:attrName>ppt_x</p:attrName>
                                        </p:attrNameLst>
                                      </p:cBhvr>
                                      <p:tavLst>
                                        <p:tav tm="0">
                                          <p:val>
                                            <p:strVal val="#ppt_x"/>
                                          </p:val>
                                        </p:tav>
                                        <p:tav tm="100000">
                                          <p:val>
                                            <p:strVal val="#ppt_x"/>
                                          </p:val>
                                        </p:tav>
                                      </p:tavLst>
                                    </p:anim>
                                    <p:anim calcmode="lin" valueType="num">
                                      <p:cBhvr additive="base">
                                        <p:cTn id="3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15348-CB0D-C378-8902-2722BFAC30F5}"/>
              </a:ext>
            </a:extLst>
          </p:cNvPr>
          <p:cNvSpPr>
            <a:spLocks noGrp="1"/>
          </p:cNvSpPr>
          <p:nvPr>
            <p:ph type="title"/>
          </p:nvPr>
        </p:nvSpPr>
        <p:spPr/>
        <p:txBody>
          <a:bodyPr/>
          <a:lstStyle/>
          <a:p>
            <a:r>
              <a:rPr lang="en-PH" dirty="0"/>
              <a:t>What is in my roles as Social Media Management? </a:t>
            </a:r>
          </a:p>
        </p:txBody>
      </p:sp>
      <p:sp>
        <p:nvSpPr>
          <p:cNvPr id="3" name="Content Placeholder 2">
            <a:extLst>
              <a:ext uri="{FF2B5EF4-FFF2-40B4-BE49-F238E27FC236}">
                <a16:creationId xmlns:a16="http://schemas.microsoft.com/office/drawing/2014/main" id="{4D8F9589-AD24-6AC9-0CFB-03FD0778D054}"/>
              </a:ext>
            </a:extLst>
          </p:cNvPr>
          <p:cNvSpPr>
            <a:spLocks noGrp="1"/>
          </p:cNvSpPr>
          <p:nvPr>
            <p:ph idx="1"/>
          </p:nvPr>
        </p:nvSpPr>
        <p:spPr/>
        <p:txBody>
          <a:bodyPr/>
          <a:lstStyle/>
          <a:p>
            <a:pPr marL="0" indent="0">
              <a:buNone/>
            </a:pPr>
            <a:r>
              <a:rPr lang="en-PH" dirty="0"/>
              <a:t>I’m the of Engagement specialist of Opportunity at Quezon City BPO. On this page, I engaging to applicants wants to apply to other BPO Companies here in Philippines. I got earned some commission to those BPOs wants to have my applicants.  </a:t>
            </a:r>
          </a:p>
          <a:p>
            <a:pPr marL="0" indent="0">
              <a:buNone/>
            </a:pPr>
            <a:endParaRPr lang="en-PH" dirty="0"/>
          </a:p>
          <a:p>
            <a:pPr marL="0" indent="0">
              <a:buNone/>
            </a:pPr>
            <a:r>
              <a:rPr lang="en-PH" dirty="0"/>
              <a:t>The second one, of my relatives in father side, give me position for Social Media Manager and Ads Manager. I posting some important information in regards with hiring companies here in Manila. Other things, we have our headhunter or physical recruiter outside of the page. I’m also handled their commission in one of the companies they have got an applicant. </a:t>
            </a:r>
          </a:p>
          <a:p>
            <a:pPr marL="0" indent="0">
              <a:buNone/>
            </a:pPr>
            <a:endParaRPr lang="en-PH" dirty="0"/>
          </a:p>
        </p:txBody>
      </p:sp>
    </p:spTree>
    <p:extLst>
      <p:ext uri="{BB962C8B-B14F-4D97-AF65-F5344CB8AC3E}">
        <p14:creationId xmlns:p14="http://schemas.microsoft.com/office/powerpoint/2010/main" val="1246775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A5035-4684-D2F5-21BC-0EC92D92023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F8B587-6EFA-DA3A-4561-E3EA4004CC6C}"/>
              </a:ext>
            </a:extLst>
          </p:cNvPr>
          <p:cNvSpPr>
            <a:spLocks noGrp="1"/>
          </p:cNvSpPr>
          <p:nvPr>
            <p:ph idx="1"/>
          </p:nvPr>
        </p:nvSpPr>
        <p:spPr>
          <a:xfrm>
            <a:off x="521208" y="749808"/>
            <a:ext cx="11155680" cy="5596128"/>
          </a:xfrm>
        </p:spPr>
        <p:txBody>
          <a:bodyPr/>
          <a:lstStyle/>
          <a:p>
            <a:pPr>
              <a:buNone/>
            </a:pPr>
            <a:r>
              <a:rPr lang="en-US" dirty="0"/>
              <a:t>I believe I would be a valuable addition to your team as a Social Media Manager because I understand how to turn social media into a powerful tool for brand growth, customer engagement, and sales. I have experience creating strategic content, managing Meta Ads campaigns, analyzing performance metrics, and optimizing campaigns to maximize ROI. I stay up to date with social media trends and platform updates, allowing me to develop creative strategies that keep brands competitive.</a:t>
            </a:r>
          </a:p>
          <a:p>
            <a:pPr>
              <a:buNone/>
            </a:pPr>
            <a:r>
              <a:rPr lang="en-US" dirty="0"/>
              <a:t>Beyond running campaigns, I focus on understanding the target audience, building meaningful engagement, and creating content that drives real business results. I am organized, detail-oriented, and proactive, with the ability to manage multiple projects while meeting deadlines. I am confident in making data-driven decisions, solving problems quickly, and continuously improving campaign performance.</a:t>
            </a:r>
          </a:p>
          <a:p>
            <a:pPr marL="0" indent="0">
              <a:buNone/>
            </a:pPr>
            <a:r>
              <a:rPr lang="en-US" dirty="0"/>
              <a:t>If given the opportunity, I will bring dedication, creativity, and a results-focused mindset to help grow your brand, increase online visibility, generate quality leads, and contribute to the long-term success of your business.</a:t>
            </a:r>
          </a:p>
          <a:p>
            <a:pPr marL="0" indent="0">
              <a:buNone/>
            </a:pPr>
            <a:endParaRPr lang="en-US" dirty="0"/>
          </a:p>
          <a:p>
            <a:pPr marL="0" indent="0">
              <a:buNone/>
            </a:pPr>
            <a:endParaRPr lang="en-US" dirty="0"/>
          </a:p>
          <a:p>
            <a:pPr marL="0" indent="0">
              <a:buNone/>
            </a:pPr>
            <a:r>
              <a:rPr lang="en-PH" b="1" i="1" dirty="0"/>
              <a:t>Please note: We are talking about revenue and the calibration of the company. I will take seriously about this job. All the information provided is clear and came from my credentials, backgrounds of expertise.</a:t>
            </a:r>
          </a:p>
        </p:txBody>
      </p:sp>
    </p:spTree>
    <p:extLst>
      <p:ext uri="{BB962C8B-B14F-4D97-AF65-F5344CB8AC3E}">
        <p14:creationId xmlns:p14="http://schemas.microsoft.com/office/powerpoint/2010/main" val="2987083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44BDD-3F92-31F7-B4EA-DE34184CA5B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8CCC4E-4A70-88B2-8BAE-EAA6597B1639}"/>
              </a:ext>
            </a:extLst>
          </p:cNvPr>
          <p:cNvSpPr>
            <a:spLocks noGrp="1"/>
          </p:cNvSpPr>
          <p:nvPr>
            <p:ph idx="1"/>
          </p:nvPr>
        </p:nvSpPr>
        <p:spPr>
          <a:xfrm>
            <a:off x="4069080" y="749808"/>
            <a:ext cx="3858768" cy="5596128"/>
          </a:xfrm>
        </p:spPr>
        <p:txBody>
          <a:bodyPr>
            <a:normAutofit lnSpcReduction="10000"/>
          </a:bodyPr>
          <a:lstStyle/>
          <a:p>
            <a:pPr>
              <a:buNone/>
            </a:pPr>
            <a:r>
              <a:rPr lang="en-US" b="1" i="1" dirty="0"/>
              <a:t>Latest post from LinkedIn:</a:t>
            </a:r>
          </a:p>
          <a:p>
            <a:pPr>
              <a:buNone/>
            </a:pPr>
            <a:r>
              <a:rPr lang="en-PH" dirty="0"/>
              <a:t>This is the time that I’m looking for client as Customer Service, Virtual Assistant, and other freelance opportunities related to customer relation management.</a:t>
            </a:r>
          </a:p>
          <a:p>
            <a:pPr>
              <a:buNone/>
            </a:pPr>
            <a:r>
              <a:rPr lang="en-PH" dirty="0"/>
              <a:t>Based on LinkedIn Analytics, this post has a 157 impressions it has a insights of 10% of In-network (followers and connections)p and as well as 90% of out-of-network who saw this post. I’ve been using this </a:t>
            </a:r>
            <a:r>
              <a:rPr lang="en-PH" dirty="0" err="1"/>
              <a:t>Linkedin</a:t>
            </a:r>
            <a:r>
              <a:rPr lang="en-PH" dirty="0"/>
              <a:t> for all over 5 years and I know this is not the perfect number to impress , but this is a thing that I have a couple of things to do the objectives, and responsibilities that I will be </a:t>
            </a:r>
            <a:r>
              <a:rPr lang="en-PH" dirty="0" err="1"/>
              <a:t>hnaflilnh</a:t>
            </a:r>
            <a:r>
              <a:rPr lang="en-PH"/>
              <a:t>. </a:t>
            </a:r>
            <a:endParaRPr lang="en-PH" dirty="0"/>
          </a:p>
        </p:txBody>
      </p:sp>
      <p:pic>
        <p:nvPicPr>
          <p:cNvPr id="6" name="Picture 5">
            <a:extLst>
              <a:ext uri="{FF2B5EF4-FFF2-40B4-BE49-F238E27FC236}">
                <a16:creationId xmlns:a16="http://schemas.microsoft.com/office/drawing/2014/main" id="{EDB82888-D09E-9555-1BF7-3C92455319A4}"/>
              </a:ext>
            </a:extLst>
          </p:cNvPr>
          <p:cNvPicPr>
            <a:picLocks noChangeAspect="1"/>
          </p:cNvPicPr>
          <p:nvPr/>
        </p:nvPicPr>
        <p:blipFill>
          <a:blip r:embed="rId2"/>
          <a:stretch>
            <a:fillRect/>
          </a:stretch>
        </p:blipFill>
        <p:spPr>
          <a:xfrm>
            <a:off x="521210" y="749808"/>
            <a:ext cx="3245017" cy="5596128"/>
          </a:xfrm>
          <a:prstGeom prst="rect">
            <a:avLst/>
          </a:prstGeom>
        </p:spPr>
      </p:pic>
      <p:pic>
        <p:nvPicPr>
          <p:cNvPr id="8" name="Picture 7">
            <a:extLst>
              <a:ext uri="{FF2B5EF4-FFF2-40B4-BE49-F238E27FC236}">
                <a16:creationId xmlns:a16="http://schemas.microsoft.com/office/drawing/2014/main" id="{8D67A287-CECF-F4CA-37A7-3547B280618C}"/>
              </a:ext>
            </a:extLst>
          </p:cNvPr>
          <p:cNvPicPr>
            <a:picLocks noChangeAspect="1"/>
          </p:cNvPicPr>
          <p:nvPr/>
        </p:nvPicPr>
        <p:blipFill>
          <a:blip r:embed="rId3"/>
          <a:stretch>
            <a:fillRect/>
          </a:stretch>
        </p:blipFill>
        <p:spPr>
          <a:xfrm>
            <a:off x="8230701" y="749808"/>
            <a:ext cx="3440089" cy="5596128"/>
          </a:xfrm>
          <a:prstGeom prst="rect">
            <a:avLst/>
          </a:prstGeom>
        </p:spPr>
      </p:pic>
    </p:spTree>
    <p:extLst>
      <p:ext uri="{BB962C8B-B14F-4D97-AF65-F5344CB8AC3E}">
        <p14:creationId xmlns:p14="http://schemas.microsoft.com/office/powerpoint/2010/main" val="3385997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A51B7-E4C2-E96F-F38B-F8E4B0ACDE60}"/>
              </a:ext>
            </a:extLst>
          </p:cNvPr>
          <p:cNvSpPr>
            <a:spLocks noGrp="1"/>
          </p:cNvSpPr>
          <p:nvPr>
            <p:ph type="title"/>
          </p:nvPr>
        </p:nvSpPr>
        <p:spPr/>
        <p:txBody>
          <a:bodyPr/>
          <a:lstStyle/>
          <a:p>
            <a:r>
              <a:rPr lang="en-PH" dirty="0"/>
              <a:t>What are the tools and software that you expert to use it?</a:t>
            </a:r>
          </a:p>
        </p:txBody>
      </p:sp>
      <p:sp>
        <p:nvSpPr>
          <p:cNvPr id="3" name="Content Placeholder 2">
            <a:extLst>
              <a:ext uri="{FF2B5EF4-FFF2-40B4-BE49-F238E27FC236}">
                <a16:creationId xmlns:a16="http://schemas.microsoft.com/office/drawing/2014/main" id="{6D0D9B52-C9C3-5EFF-D6E7-628A5B0E1FEC}"/>
              </a:ext>
            </a:extLst>
          </p:cNvPr>
          <p:cNvSpPr>
            <a:spLocks noGrp="1"/>
          </p:cNvSpPr>
          <p:nvPr>
            <p:ph idx="1"/>
          </p:nvPr>
        </p:nvSpPr>
        <p:spPr>
          <a:xfrm>
            <a:off x="5826855" y="2731008"/>
            <a:ext cx="5574792" cy="3767328"/>
          </a:xfrm>
        </p:spPr>
        <p:txBody>
          <a:bodyPr/>
          <a:lstStyle/>
          <a:p>
            <a:pPr marL="0" indent="0">
              <a:buNone/>
            </a:pPr>
            <a:r>
              <a:rPr lang="en-PH" b="1" dirty="0"/>
              <a:t>Product Software Software:</a:t>
            </a:r>
          </a:p>
          <a:p>
            <a:r>
              <a:rPr lang="en-PH" dirty="0"/>
              <a:t>Siebel CRM</a:t>
            </a:r>
          </a:p>
          <a:p>
            <a:r>
              <a:rPr lang="en-PH" dirty="0"/>
              <a:t>Salesforce</a:t>
            </a:r>
          </a:p>
          <a:p>
            <a:r>
              <a:rPr lang="en-PH" dirty="0"/>
              <a:t>Monday.com</a:t>
            </a:r>
          </a:p>
          <a:p>
            <a:r>
              <a:rPr lang="en-PH" dirty="0"/>
              <a:t>Canva </a:t>
            </a:r>
          </a:p>
          <a:p>
            <a:r>
              <a:rPr lang="en-PH" dirty="0"/>
              <a:t>Power BI</a:t>
            </a:r>
          </a:p>
          <a:p>
            <a:r>
              <a:rPr lang="en-PH" dirty="0" err="1"/>
              <a:t>Capcut</a:t>
            </a:r>
            <a:endParaRPr lang="en-PH" dirty="0"/>
          </a:p>
          <a:p>
            <a:r>
              <a:rPr lang="en-PH" dirty="0"/>
              <a:t>Canva</a:t>
            </a:r>
          </a:p>
        </p:txBody>
      </p:sp>
      <p:sp>
        <p:nvSpPr>
          <p:cNvPr id="4" name="Content Placeholder 2">
            <a:extLst>
              <a:ext uri="{FF2B5EF4-FFF2-40B4-BE49-F238E27FC236}">
                <a16:creationId xmlns:a16="http://schemas.microsoft.com/office/drawing/2014/main" id="{71530DE4-82F3-DB37-8006-E239B6C231D1}"/>
              </a:ext>
            </a:extLst>
          </p:cNvPr>
          <p:cNvSpPr txBox="1">
            <a:spLocks/>
          </p:cNvSpPr>
          <p:nvPr/>
        </p:nvSpPr>
        <p:spPr>
          <a:xfrm>
            <a:off x="673608" y="2731008"/>
            <a:ext cx="5574792" cy="3767328"/>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PH" b="1" dirty="0"/>
              <a:t>Communication Software:</a:t>
            </a:r>
          </a:p>
          <a:p>
            <a:r>
              <a:rPr lang="en-PH" dirty="0"/>
              <a:t>Microsoft Teams</a:t>
            </a:r>
          </a:p>
          <a:p>
            <a:r>
              <a:rPr lang="en-PH" dirty="0"/>
              <a:t>Google Meet</a:t>
            </a:r>
          </a:p>
          <a:p>
            <a:r>
              <a:rPr lang="en-PH" dirty="0"/>
              <a:t>Slack</a:t>
            </a:r>
          </a:p>
          <a:p>
            <a:r>
              <a:rPr lang="en-PH" dirty="0"/>
              <a:t>Discord</a:t>
            </a:r>
          </a:p>
          <a:p>
            <a:r>
              <a:rPr lang="en-PH" dirty="0"/>
              <a:t>Zoom</a:t>
            </a:r>
          </a:p>
          <a:p>
            <a:r>
              <a:rPr lang="en-PH" dirty="0"/>
              <a:t>Google Drive</a:t>
            </a:r>
          </a:p>
          <a:p>
            <a:r>
              <a:rPr lang="en-PH" dirty="0"/>
              <a:t>Google Workspace</a:t>
            </a:r>
          </a:p>
        </p:txBody>
      </p:sp>
    </p:spTree>
    <p:extLst>
      <p:ext uri="{BB962C8B-B14F-4D97-AF65-F5344CB8AC3E}">
        <p14:creationId xmlns:p14="http://schemas.microsoft.com/office/powerpoint/2010/main" val="4164134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fade">
                                      <p:cBhvr>
                                        <p:cTn id="18" dur="5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fade">
                                      <p:cBhvr>
                                        <p:cTn id="23" dur="500"/>
                                        <p:tgtEl>
                                          <p:spTgt spid="3">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500"/>
                                        <p:tgtEl>
                                          <p:spTgt spid="3">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500"/>
                                        <p:tgtEl>
                                          <p:spTgt spid="3">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animEffect transition="in" filter="fade">
                                      <p:cBhvr>
                                        <p:cTn id="38" dur="500"/>
                                        <p:tgtEl>
                                          <p:spTgt spid="3">
                                            <p:txEl>
                                              <p:pRg st="4" end="4"/>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Effect transition="in" filter="fade">
                                      <p:cBhvr>
                                        <p:cTn id="43" dur="500"/>
                                        <p:tgtEl>
                                          <p:spTgt spid="3">
                                            <p:txEl>
                                              <p:pRg st="5" end="5"/>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Effect transition="in" filter="fade">
                                      <p:cBhvr>
                                        <p:cTn id="48" dur="500"/>
                                        <p:tgtEl>
                                          <p:spTgt spid="3">
                                            <p:txEl>
                                              <p:pRg st="6" end="6"/>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
                                            <p:txEl>
                                              <p:pRg st="7" end="7"/>
                                            </p:txEl>
                                          </p:spTgt>
                                        </p:tgtEl>
                                        <p:attrNameLst>
                                          <p:attrName>style.visibility</p:attrName>
                                        </p:attrNameLst>
                                      </p:cBhvr>
                                      <p:to>
                                        <p:strVal val="visible"/>
                                      </p:to>
                                    </p:set>
                                    <p:animEffect transition="in" filter="fade">
                                      <p:cBhvr>
                                        <p:cTn id="5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F21D4-D228-B999-0E20-254644FE1A6F}"/>
              </a:ext>
            </a:extLst>
          </p:cNvPr>
          <p:cNvSpPr>
            <a:spLocks noGrp="1"/>
          </p:cNvSpPr>
          <p:nvPr>
            <p:ph type="title"/>
          </p:nvPr>
        </p:nvSpPr>
        <p:spPr/>
        <p:txBody>
          <a:bodyPr>
            <a:normAutofit fontScale="90000"/>
          </a:bodyPr>
          <a:lstStyle/>
          <a:p>
            <a:pPr algn="ctr"/>
            <a:r>
              <a:rPr lang="en-PH" sz="5400" dirty="0"/>
              <a:t>WHY YOU NEED TO WORK WITH ME?</a:t>
            </a:r>
          </a:p>
        </p:txBody>
      </p:sp>
      <p:sp>
        <p:nvSpPr>
          <p:cNvPr id="3" name="Content Placeholder 2">
            <a:extLst>
              <a:ext uri="{FF2B5EF4-FFF2-40B4-BE49-F238E27FC236}">
                <a16:creationId xmlns:a16="http://schemas.microsoft.com/office/drawing/2014/main" id="{9F469B66-179F-C1D1-A991-44BB087DCDED}"/>
              </a:ext>
            </a:extLst>
          </p:cNvPr>
          <p:cNvSpPr>
            <a:spLocks noGrp="1"/>
          </p:cNvSpPr>
          <p:nvPr>
            <p:ph idx="1"/>
          </p:nvPr>
        </p:nvSpPr>
        <p:spPr>
          <a:xfrm>
            <a:off x="521208" y="1961918"/>
            <a:ext cx="11155680" cy="3767328"/>
          </a:xfrm>
        </p:spPr>
        <p:txBody>
          <a:bodyPr>
            <a:normAutofit fontScale="92500" lnSpcReduction="10000"/>
          </a:bodyPr>
          <a:lstStyle/>
          <a:p>
            <a:pPr>
              <a:buFont typeface="Wingdings" panose="05000000000000000000" pitchFamily="2" charset="2"/>
              <a:buChar char="ü"/>
            </a:pPr>
            <a:r>
              <a:rPr lang="en-PH" sz="2800" dirty="0"/>
              <a:t>Nearly 5 years of Customer Service Experience</a:t>
            </a:r>
          </a:p>
          <a:p>
            <a:pPr>
              <a:buFont typeface="Wingdings" panose="05000000000000000000" pitchFamily="2" charset="2"/>
              <a:buChar char="ü"/>
            </a:pPr>
            <a:r>
              <a:rPr lang="en-PH" sz="2800" dirty="0"/>
              <a:t>Leadership experience as Assistant Team Leader and SME</a:t>
            </a:r>
          </a:p>
          <a:p>
            <a:pPr>
              <a:buFont typeface="Wingdings" panose="05000000000000000000" pitchFamily="2" charset="2"/>
              <a:buChar char="ü"/>
            </a:pPr>
            <a:r>
              <a:rPr lang="en-PH" sz="2800" dirty="0"/>
              <a:t>Strong communication and interpersonal skills</a:t>
            </a:r>
          </a:p>
          <a:p>
            <a:pPr>
              <a:buFont typeface="Wingdings" panose="05000000000000000000" pitchFamily="2" charset="2"/>
              <a:buChar char="ü"/>
            </a:pPr>
            <a:r>
              <a:rPr lang="en-PH" sz="2800" dirty="0"/>
              <a:t>Experienced in handling different industries</a:t>
            </a:r>
          </a:p>
          <a:p>
            <a:pPr>
              <a:buFont typeface="Wingdings" panose="05000000000000000000" pitchFamily="2" charset="2"/>
              <a:buChar char="ü"/>
            </a:pPr>
            <a:r>
              <a:rPr lang="en-PH" sz="2800" dirty="0"/>
              <a:t>Fast learner and adaptable</a:t>
            </a:r>
          </a:p>
          <a:p>
            <a:pPr>
              <a:buFont typeface="Wingdings" panose="05000000000000000000" pitchFamily="2" charset="2"/>
              <a:buChar char="ü"/>
            </a:pPr>
            <a:r>
              <a:rPr lang="en-PH" sz="2800" dirty="0"/>
              <a:t>Detail-oriented and reliable</a:t>
            </a:r>
          </a:p>
          <a:p>
            <a:pPr>
              <a:buFont typeface="Wingdings" panose="05000000000000000000" pitchFamily="2" charset="2"/>
              <a:buChar char="ü"/>
            </a:pPr>
            <a:r>
              <a:rPr lang="en-PH" sz="2800" dirty="0"/>
              <a:t>Able to work independently and collaborative</a:t>
            </a:r>
          </a:p>
        </p:txBody>
      </p:sp>
    </p:spTree>
    <p:extLst>
      <p:ext uri="{BB962C8B-B14F-4D97-AF65-F5344CB8AC3E}">
        <p14:creationId xmlns:p14="http://schemas.microsoft.com/office/powerpoint/2010/main" val="4083525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49702-09B9-2ED8-E239-0FEBF2E606BA}"/>
              </a:ext>
            </a:extLst>
          </p:cNvPr>
          <p:cNvSpPr>
            <a:spLocks noGrp="1"/>
          </p:cNvSpPr>
          <p:nvPr>
            <p:ph type="title"/>
          </p:nvPr>
        </p:nvSpPr>
        <p:spPr>
          <a:xfrm>
            <a:off x="521208" y="557784"/>
            <a:ext cx="11155680" cy="941832"/>
          </a:xfrm>
        </p:spPr>
        <p:txBody>
          <a:bodyPr>
            <a:noAutofit/>
          </a:bodyPr>
          <a:lstStyle/>
          <a:p>
            <a:pPr algn="ctr"/>
            <a:r>
              <a:rPr lang="en-US" sz="3200" dirty="0"/>
              <a:t>THIS IS MY LEGITIMATE CERTIFICATION OF EMPLOYMENT ALL THE COMPANY I’VE WORKED WITH.</a:t>
            </a:r>
            <a:endParaRPr lang="en-PH" sz="3200" dirty="0"/>
          </a:p>
        </p:txBody>
      </p:sp>
      <p:pic>
        <p:nvPicPr>
          <p:cNvPr id="5" name="Content Placeholder 4">
            <a:extLst>
              <a:ext uri="{FF2B5EF4-FFF2-40B4-BE49-F238E27FC236}">
                <a16:creationId xmlns:a16="http://schemas.microsoft.com/office/drawing/2014/main" id="{8F044DB6-8045-8771-DB59-D26E1F98E78F}"/>
              </a:ext>
            </a:extLst>
          </p:cNvPr>
          <p:cNvPicPr>
            <a:picLocks noGrp="1" noChangeAspect="1"/>
          </p:cNvPicPr>
          <p:nvPr>
            <p:ph idx="1"/>
          </p:nvPr>
        </p:nvPicPr>
        <p:blipFill>
          <a:blip r:embed="rId2"/>
          <a:srcRect l="1764" t="3187"/>
          <a:stretch/>
        </p:blipFill>
        <p:spPr>
          <a:xfrm>
            <a:off x="448055" y="1499616"/>
            <a:ext cx="3817847" cy="5047488"/>
          </a:xfrm>
        </p:spPr>
      </p:pic>
      <p:pic>
        <p:nvPicPr>
          <p:cNvPr id="7" name="Picture 6">
            <a:extLst>
              <a:ext uri="{FF2B5EF4-FFF2-40B4-BE49-F238E27FC236}">
                <a16:creationId xmlns:a16="http://schemas.microsoft.com/office/drawing/2014/main" id="{808B3390-3A92-A715-DDF2-71F610CD5491}"/>
              </a:ext>
            </a:extLst>
          </p:cNvPr>
          <p:cNvPicPr>
            <a:picLocks noChangeAspect="1"/>
          </p:cNvPicPr>
          <p:nvPr/>
        </p:nvPicPr>
        <p:blipFill>
          <a:blip r:embed="rId3"/>
          <a:stretch>
            <a:fillRect/>
          </a:stretch>
        </p:blipFill>
        <p:spPr>
          <a:xfrm>
            <a:off x="4265902" y="1499616"/>
            <a:ext cx="3886400" cy="5016758"/>
          </a:xfrm>
          <a:prstGeom prst="rect">
            <a:avLst/>
          </a:prstGeom>
        </p:spPr>
      </p:pic>
      <p:pic>
        <p:nvPicPr>
          <p:cNvPr id="9" name="Picture 8">
            <a:extLst>
              <a:ext uri="{FF2B5EF4-FFF2-40B4-BE49-F238E27FC236}">
                <a16:creationId xmlns:a16="http://schemas.microsoft.com/office/drawing/2014/main" id="{3B8440E1-92D2-C01C-5979-FAB091473BC4}"/>
              </a:ext>
            </a:extLst>
          </p:cNvPr>
          <p:cNvPicPr>
            <a:picLocks noChangeAspect="1"/>
          </p:cNvPicPr>
          <p:nvPr/>
        </p:nvPicPr>
        <p:blipFill>
          <a:blip r:embed="rId4"/>
          <a:stretch>
            <a:fillRect/>
          </a:stretch>
        </p:blipFill>
        <p:spPr>
          <a:xfrm>
            <a:off x="7839208" y="1530346"/>
            <a:ext cx="4150774" cy="5016758"/>
          </a:xfrm>
          <a:prstGeom prst="rect">
            <a:avLst/>
          </a:prstGeom>
        </p:spPr>
      </p:pic>
    </p:spTree>
    <p:extLst>
      <p:ext uri="{BB962C8B-B14F-4D97-AF65-F5344CB8AC3E}">
        <p14:creationId xmlns:p14="http://schemas.microsoft.com/office/powerpoint/2010/main" val="3062342671"/>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357</TotalTime>
  <Words>1371</Words>
  <Application>Microsoft Office PowerPoint</Application>
  <PresentationFormat>Widescreen</PresentationFormat>
  <Paragraphs>82</Paragraphs>
  <Slides>12</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Bierstadt</vt:lpstr>
      <vt:lpstr>Wingdings</vt:lpstr>
      <vt:lpstr>GestaltVTI</vt:lpstr>
      <vt:lpstr>I’M JM PAUL, YOUR BUSINESS PARTNER</vt:lpstr>
      <vt:lpstr>I’M WORKING IN BUSINESS PROCESSING OUTSOURCING SERVICE FOR ALL OVER 4 YEARS</vt:lpstr>
      <vt:lpstr>WHAT COMPANY I’VE WORKED FOR? WHY AM I HAVE THIS EXPERTIES?</vt:lpstr>
      <vt:lpstr>WHAT COMPANY I’VE WORKED FOR? WHY AM I HAVE THIS EXPERTIES?</vt:lpstr>
      <vt:lpstr>WHAT COMPANY I’VE WORKED FOR? WHY AM I HAVE THIS EXPERTIES?</vt:lpstr>
      <vt:lpstr>WHAT COMPANY I’VE WORKED FOR? WHY AM I HAVE THIS EXPERTIES?</vt:lpstr>
      <vt:lpstr>What is in my roles as Social Media Management? </vt:lpstr>
      <vt:lpstr>PowerPoint Presentation</vt:lpstr>
      <vt:lpstr>PowerPoint Presentation</vt:lpstr>
      <vt:lpstr>What are the tools and software that you expert to use it?</vt:lpstr>
      <vt:lpstr>WHY YOU NEED TO WORK WITH ME?</vt:lpstr>
      <vt:lpstr>THIS IS MY LEGITIMATE CERTIFICATION OF EMPLOYMENT ALL THE COMPANY I’VE WORKED WITH.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pearloladive@gmail.com</dc:creator>
  <cp:lastModifiedBy>pearloladive@gmail.com</cp:lastModifiedBy>
  <cp:revision>2</cp:revision>
  <dcterms:created xsi:type="dcterms:W3CDTF">2026-07-16T06:17:22Z</dcterms:created>
  <dcterms:modified xsi:type="dcterms:W3CDTF">2026-07-19T12:27:47Z</dcterms:modified>
</cp:coreProperties>
</file>